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1C3100-30EA-4EEC-B519-0F9F523B4B02}">
  <a:tblStyle styleId="{021C3100-30EA-4EEC-B519-0F9F523B4B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unito-regular.fntdata"/><Relationship Id="rId14" Type="http://schemas.openxmlformats.org/officeDocument/2006/relationships/slide" Target="slides/slide8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avenPr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778bd176f9fa5868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h778bd176f9fa5868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h778bd176f9fa5868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h778bd176f9fa5868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h778bd176f9fa5868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h778bd176f9fa5868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h778bd176f9fa5868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h778bd176f9fa5868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h778bd176f9fa5868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h778bd176f9fa586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h778bd176f9fa5868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h778bd176f9fa5868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778bd176f9fa5868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h778bd176f9fa5868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 Charging Demand Forecasting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Predicting future charging demand to plan capacity, staffing, and energy procurement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The Problem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7424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</a:pPr>
            <a:r>
              <a:rPr b="1" lang="en-GB" sz="1200">
                <a:solidFill>
                  <a:schemeClr val="accent1"/>
                </a:solidFill>
              </a:rPr>
              <a:t>No forward visibility info demand</a:t>
            </a:r>
            <a:endParaRPr b="1" sz="12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Historical session data exists, but there’s no forecast to guide </a:t>
            </a:r>
            <a:r>
              <a:rPr lang="en-GB" sz="1200">
                <a:solidFill>
                  <a:srgbClr val="000000"/>
                </a:solidFill>
              </a:rPr>
              <a:t>staffing</a:t>
            </a:r>
            <a:r>
              <a:rPr lang="en-GB" sz="1200">
                <a:solidFill>
                  <a:srgbClr val="000000"/>
                </a:solidFill>
              </a:rPr>
              <a:t>, capacity, or energy purchasing decisions.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</a:pPr>
            <a:r>
              <a:rPr b="1" lang="en-GB" sz="1200">
                <a:solidFill>
                  <a:schemeClr val="accent1"/>
                </a:solidFill>
              </a:rPr>
              <a:t>Network is growing fast</a:t>
            </a:r>
            <a:endParaRPr b="1" sz="12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Stations grew from 8 (2024), past demand trends don’t simply extrapolate.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</a:pPr>
            <a:r>
              <a:rPr b="1" lang="en-GB" sz="1200">
                <a:solidFill>
                  <a:schemeClr val="accent1"/>
                </a:solidFill>
              </a:rPr>
              <a:t>Multiple planning horizons needed</a:t>
            </a:r>
            <a:endParaRPr b="1" sz="12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Operational teams need 30-day views. Energy procurement needs 90- and 365-day views.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What We Did 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651900" y="1951950"/>
            <a:ext cx="1383600" cy="23799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AutoNum type="arabicPeriod"/>
            </a:pPr>
            <a:r>
              <a:rPr b="1" lang="en-GB">
                <a:solidFill>
                  <a:schemeClr val="accent1"/>
                </a:solidFill>
              </a:rPr>
              <a:t>Clean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000000"/>
                </a:solidFill>
              </a:rPr>
              <a:t>294,024 sessions checked for nulls, duplicated, and consistency. </a:t>
            </a:r>
            <a:r>
              <a:rPr lang="en-GB">
                <a:solidFill>
                  <a:srgbClr val="000000"/>
                </a:solidFill>
              </a:rPr>
              <a:t>Identified</a:t>
            </a:r>
            <a:r>
              <a:rPr lang="en-GB">
                <a:solidFill>
                  <a:srgbClr val="000000"/>
                </a:solidFill>
              </a:rPr>
              <a:t> and documented a systematic install-date data issue.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2266050" y="1951950"/>
            <a:ext cx="1383600" cy="23799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 startAt="2"/>
            </a:pPr>
            <a:r>
              <a:rPr b="1" lang="en-GB" sz="1200">
                <a:solidFill>
                  <a:schemeClr val="accent1"/>
                </a:solidFill>
              </a:rPr>
              <a:t>Explore</a:t>
            </a:r>
            <a:endParaRPr b="1" sz="12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Found clear daily and weekly demand patterns, and </a:t>
            </a:r>
            <a:r>
              <a:rPr lang="en-GB" sz="1200">
                <a:solidFill>
                  <a:srgbClr val="000000"/>
                </a:solidFill>
              </a:rPr>
              <a:t>separated</a:t>
            </a:r>
            <a:r>
              <a:rPr lang="en-GB" sz="1200">
                <a:solidFill>
                  <a:srgbClr val="000000"/>
                </a:solidFill>
              </a:rPr>
              <a:t> genuine growth from network expansion.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92" name="Google Shape;292;p15"/>
          <p:cNvSpPr txBox="1"/>
          <p:nvPr>
            <p:ph idx="1" type="body"/>
          </p:nvPr>
        </p:nvSpPr>
        <p:spPr>
          <a:xfrm>
            <a:off x="3880200" y="1951950"/>
            <a:ext cx="1383600" cy="23799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 startAt="3"/>
            </a:pPr>
            <a:r>
              <a:rPr b="1" lang="en-GB" sz="1200">
                <a:solidFill>
                  <a:schemeClr val="accent1"/>
                </a:solidFill>
              </a:rPr>
              <a:t>Engineer</a:t>
            </a:r>
            <a:endParaRPr b="1" sz="12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Built hour/daily demand series, calendar features, and lag features for modelling.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93" name="Google Shape;293;p15"/>
          <p:cNvSpPr txBox="1"/>
          <p:nvPr>
            <p:ph idx="1" type="body"/>
          </p:nvPr>
        </p:nvSpPr>
        <p:spPr>
          <a:xfrm>
            <a:off x="5494350" y="1951950"/>
            <a:ext cx="1383600" cy="23799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 startAt="4"/>
            </a:pPr>
            <a:r>
              <a:rPr b="1" lang="en-GB" sz="1200">
                <a:solidFill>
                  <a:schemeClr val="accent1"/>
                </a:solidFill>
              </a:rPr>
              <a:t>Model</a:t>
            </a:r>
            <a:endParaRPr b="1" sz="12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Built and </a:t>
            </a:r>
            <a:r>
              <a:rPr lang="en-GB" sz="1200">
                <a:solidFill>
                  <a:srgbClr val="000000"/>
                </a:solidFill>
              </a:rPr>
              <a:t>daily</a:t>
            </a:r>
            <a:r>
              <a:rPr lang="en-GB" sz="1200">
                <a:solidFill>
                  <a:srgbClr val="000000"/>
                </a:solidFill>
              </a:rPr>
              <a:t> compared Prophet, SARIMA, and XGBoost.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94" name="Google Shape;294;p15"/>
          <p:cNvSpPr txBox="1"/>
          <p:nvPr>
            <p:ph idx="1" type="body"/>
          </p:nvPr>
        </p:nvSpPr>
        <p:spPr>
          <a:xfrm>
            <a:off x="7108500" y="1951950"/>
            <a:ext cx="1383600" cy="2379900"/>
          </a:xfrm>
          <a:prstGeom prst="rect">
            <a:avLst/>
          </a:prstGeom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 startAt="5"/>
            </a:pPr>
            <a:r>
              <a:rPr b="1" lang="en-GB" sz="1200">
                <a:solidFill>
                  <a:schemeClr val="accent1"/>
                </a:solidFill>
              </a:rPr>
              <a:t>Forecast</a:t>
            </a:r>
            <a:endParaRPr b="1" sz="12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Generated 30/90/365-day forecast and built an interactive Power BI dashboard.</a:t>
            </a:r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Key Findings: Session Demand Patterns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00" name="Google Shape;300;p16"/>
          <p:cNvSpPr txBox="1"/>
          <p:nvPr>
            <p:ph idx="1" type="body"/>
          </p:nvPr>
        </p:nvSpPr>
        <p:spPr>
          <a:xfrm>
            <a:off x="1303800" y="3221330"/>
            <a:ext cx="7030500" cy="14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Demand peaks 10am-2pm and is near-zero overnight, daytime/workplace charging, not overnight home charging.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Weekdays run </a:t>
            </a:r>
            <a:r>
              <a:rPr lang="en-GB" sz="1200">
                <a:solidFill>
                  <a:srgbClr val="000000"/>
                </a:solidFill>
              </a:rPr>
              <a:t>approximately</a:t>
            </a:r>
            <a:r>
              <a:rPr lang="en-GB" sz="1200">
                <a:solidFill>
                  <a:srgbClr val="000000"/>
                </a:solidFill>
              </a:rPr>
              <a:t> 27% higher than weekends, showing a clear commuter pattern.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Most historical growth </a:t>
            </a:r>
            <a:r>
              <a:rPr lang="en-GB" sz="1200">
                <a:solidFill>
                  <a:srgbClr val="000000"/>
                </a:solidFill>
              </a:rPr>
              <a:t>reflects</a:t>
            </a:r>
            <a:r>
              <a:rPr lang="en-GB" sz="1200">
                <a:solidFill>
                  <a:srgbClr val="000000"/>
                </a:solidFill>
              </a:rPr>
              <a:t> new stations coming online (8 to 17 to 33), not rising demand per station.</a:t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301" name="Google Shape;301;p16" title="Screenshot 2026-10-02 125040.png"/>
          <p:cNvPicPr preferRelativeResize="0"/>
          <p:nvPr/>
        </p:nvPicPr>
        <p:blipFill rotWithShape="1">
          <a:blip r:embed="rId3">
            <a:alphaModFix/>
          </a:blip>
          <a:srcRect b="-1900" l="0" r="0" t="1900"/>
          <a:stretch/>
        </p:blipFill>
        <p:spPr>
          <a:xfrm>
            <a:off x="4976925" y="1467150"/>
            <a:ext cx="3276600" cy="163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4575" y="1530039"/>
            <a:ext cx="3276600" cy="1567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Key Findings: Energy Demand Patterns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08" name="Google Shape;308;p17"/>
          <p:cNvSpPr txBox="1"/>
          <p:nvPr>
            <p:ph idx="1" type="body"/>
          </p:nvPr>
        </p:nvSpPr>
        <p:spPr>
          <a:xfrm>
            <a:off x="1303800" y="3221330"/>
            <a:ext cx="7030500" cy="14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Energy usage mirrors the session pattern: near-zero overnight, peaking above 1,000 kWh/hour between 10am-2pm.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Weekday energy usage runs </a:t>
            </a:r>
            <a:r>
              <a:rPr lang="en-GB" sz="1200">
                <a:solidFill>
                  <a:srgbClr val="000000"/>
                </a:solidFill>
              </a:rPr>
              <a:t>approximately</a:t>
            </a:r>
            <a:r>
              <a:rPr lang="en-GB" sz="1200">
                <a:solidFill>
                  <a:srgbClr val="000000"/>
                </a:solidFill>
              </a:rPr>
              <a:t> 28% higher than weekends (approx. 575 vs 415 kWh/hour) which is consistent with the session-count pattern.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-GB" sz="1200">
                <a:solidFill>
                  <a:srgbClr val="000000"/>
                </a:solidFill>
              </a:rPr>
              <a:t>Confirms energy procurement should be weighted toward the same weekday midday window identified for staffing.</a:t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id="309" name="Google Shape;3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0025" y="1498597"/>
            <a:ext cx="3276600" cy="1567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8975" y="1498600"/>
            <a:ext cx="3209097" cy="156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/>
          <p:nvPr>
            <p:ph type="title"/>
          </p:nvPr>
        </p:nvSpPr>
        <p:spPr>
          <a:xfrm>
            <a:off x="1303800" y="598575"/>
            <a:ext cx="7030500" cy="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Model Comparison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16" name="Google Shape;316;p18"/>
          <p:cNvSpPr txBox="1"/>
          <p:nvPr>
            <p:ph idx="1" type="body"/>
          </p:nvPr>
        </p:nvSpPr>
        <p:spPr>
          <a:xfrm>
            <a:off x="1303800" y="1054125"/>
            <a:ext cx="7030500" cy="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/>
              <a:t>All three models forecast the same 90-day test window  with no access to real values from within it.</a:t>
            </a:r>
            <a:endParaRPr sz="1200"/>
          </a:p>
        </p:txBody>
      </p:sp>
      <p:graphicFrame>
        <p:nvGraphicFramePr>
          <p:cNvPr id="317" name="Google Shape;317;p18"/>
          <p:cNvGraphicFramePr/>
          <p:nvPr/>
        </p:nvGraphicFramePr>
        <p:xfrm>
          <a:off x="1199557" y="1570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{021C3100-30EA-4EEC-B519-0F9F523B4B02}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Target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Model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RMSE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lt1"/>
                          </a:solidFill>
                        </a:rPr>
                        <a:t>MAPE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session_count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</a:rPr>
                        <a:t>XGBoost (calendar-only)</a:t>
                      </a:r>
                      <a:endParaRPr sz="12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4.98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0.350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session_count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Prophet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5.31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0.413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session_count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SARIMA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5.46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</a:rPr>
                        <a:t>0.342</a:t>
                      </a:r>
                      <a:endParaRPr sz="12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total_energy_kWh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</a:rPr>
                        <a:t>XGBoost (calendar-only)</a:t>
                      </a:r>
                      <a:endParaRPr sz="12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233.9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accent1"/>
                          </a:solidFill>
                        </a:rPr>
                        <a:t>0.370</a:t>
                      </a:r>
                      <a:endParaRPr sz="1200"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total_energy_kWh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Prophet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262.1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0.449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total_energy_kWh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SARIMA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264.7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0.379</a:t>
                      </a:r>
                      <a:endParaRPr sz="12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"/>
          <p:cNvSpPr txBox="1"/>
          <p:nvPr>
            <p:ph type="title"/>
          </p:nvPr>
        </p:nvSpPr>
        <p:spPr>
          <a:xfrm>
            <a:off x="1303800" y="598575"/>
            <a:ext cx="7030500" cy="5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</a:rPr>
              <a:t>The Forecast: Two Model, Two Assumptions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23" name="Google Shape;323;p19"/>
          <p:cNvSpPr txBox="1"/>
          <p:nvPr>
            <p:ph idx="1" type="body"/>
          </p:nvPr>
        </p:nvSpPr>
        <p:spPr>
          <a:xfrm>
            <a:off x="1303800" y="1170900"/>
            <a:ext cx="70305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Both models were refit on the full 2022-2024 </a:t>
            </a:r>
            <a:r>
              <a:rPr lang="en-GB" sz="1200">
                <a:solidFill>
                  <a:srgbClr val="000000"/>
                </a:solidFill>
              </a:rPr>
              <a:t>history</a:t>
            </a:r>
            <a:r>
              <a:rPr lang="en-GB" sz="1200">
                <a:solidFill>
                  <a:srgbClr val="000000"/>
                </a:solidFill>
              </a:rPr>
              <a:t> and used to forecast 2025. Checked against the most recent full year of real data: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324" name="Google Shape;324;p19"/>
          <p:cNvSpPr txBox="1"/>
          <p:nvPr>
            <p:ph idx="1" type="body"/>
          </p:nvPr>
        </p:nvSpPr>
        <p:spPr>
          <a:xfrm>
            <a:off x="1303800" y="4295100"/>
            <a:ext cx="70305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XGBoost cannot extrapolate growth beyond the </a:t>
            </a:r>
            <a:r>
              <a:rPr lang="en-GB" sz="1200">
                <a:solidFill>
                  <a:srgbClr val="000000"/>
                </a:solidFill>
              </a:rPr>
              <a:t>years</a:t>
            </a:r>
            <a:r>
              <a:rPr lang="en-GB" sz="1200">
                <a:solidFill>
                  <a:srgbClr val="000000"/>
                </a:solidFill>
              </a:rPr>
              <a:t> it was trained on, so it holds flat. Prophet extends the historical trend. </a:t>
            </a:r>
            <a:r>
              <a:rPr lang="en-GB" sz="1200">
                <a:solidFill>
                  <a:srgbClr val="000000"/>
                </a:solidFill>
              </a:rPr>
              <a:t>Neither</a:t>
            </a:r>
            <a:r>
              <a:rPr lang="en-GB" sz="1200">
                <a:solidFill>
                  <a:srgbClr val="000000"/>
                </a:solidFill>
              </a:rPr>
              <a:t> is proven correct, both are shown on the dashboard.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1165875" y="1847050"/>
            <a:ext cx="3173700" cy="2362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Nunito"/>
                <a:ea typeface="Nunito"/>
                <a:cs typeface="Nunito"/>
                <a:sym typeface="Nunito"/>
              </a:rPr>
              <a:t>2024 Actual Average</a:t>
            </a:r>
            <a:endParaRPr b="1"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19.04</a:t>
            </a:r>
            <a:endParaRPr b="1" sz="20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unito"/>
                <a:ea typeface="Nunito"/>
                <a:cs typeface="Nunito"/>
                <a:sym typeface="Nunito"/>
              </a:rPr>
              <a:t>session/hour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882.03</a:t>
            </a:r>
            <a:endParaRPr b="1" sz="20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unito"/>
                <a:ea typeface="Nunito"/>
                <a:cs typeface="Nunito"/>
                <a:sym typeface="Nunito"/>
              </a:rPr>
              <a:t>kWh/ hour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4804425" y="1837850"/>
            <a:ext cx="3173700" cy="2362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Nunito"/>
                <a:ea typeface="Nunito"/>
                <a:cs typeface="Nunito"/>
                <a:sym typeface="Nunito"/>
              </a:rPr>
              <a:t>2025 Forecast Average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XGBoost</a:t>
            </a:r>
            <a:endParaRPr b="1" sz="13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unito"/>
                <a:ea typeface="Nunito"/>
                <a:cs typeface="Nunito"/>
                <a:sym typeface="Nunito"/>
              </a:rPr>
              <a:t>19.03 session/hr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unito"/>
                <a:ea typeface="Nunito"/>
                <a:cs typeface="Nunito"/>
                <a:sym typeface="Nunito"/>
              </a:rPr>
              <a:t>881.79 kWh/hour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unito"/>
                <a:ea typeface="Nunito"/>
                <a:cs typeface="Nunito"/>
                <a:sym typeface="Nunito"/>
              </a:rPr>
              <a:t>flat vs. 2024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accent1"/>
                </a:solidFill>
                <a:latin typeface="Nunito"/>
                <a:ea typeface="Nunito"/>
                <a:cs typeface="Nunito"/>
                <a:sym typeface="Nunito"/>
              </a:rPr>
              <a:t>Prophet</a:t>
            </a:r>
            <a:endParaRPr b="1" sz="12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unito"/>
                <a:ea typeface="Nunito"/>
                <a:cs typeface="Nunito"/>
                <a:sym typeface="Nunito"/>
              </a:rPr>
              <a:t>20.28 sessions/hr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unito"/>
                <a:ea typeface="Nunito"/>
                <a:cs typeface="Nunito"/>
                <a:sym typeface="Nunito"/>
              </a:rPr>
              <a:t>930.48 kWh/hr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unito"/>
                <a:ea typeface="Nunito"/>
                <a:cs typeface="Nunito"/>
                <a:sym typeface="Nunito"/>
              </a:rPr>
              <a:t>+6% vs. 2024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Recommendations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2" name="Google Shape;332;p20"/>
          <p:cNvSpPr txBox="1"/>
          <p:nvPr>
            <p:ph idx="1" type="body"/>
          </p:nvPr>
        </p:nvSpPr>
        <p:spPr>
          <a:xfrm>
            <a:off x="1303800" y="1441293"/>
            <a:ext cx="7030500" cy="33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b="1" lang="en-GB">
                <a:solidFill>
                  <a:schemeClr val="lt1"/>
                </a:solidFill>
              </a:rPr>
              <a:t>Staff for the midday peak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Concentrate staffing/support resources 10am-2pm on weekdays and minimal overnight coverage is needed.</a:t>
            </a:r>
            <a:endParaRPr>
              <a:solidFill>
                <a:schemeClr val="lt1"/>
              </a:solidFill>
            </a:endParaRPr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b="1" lang="en-GB">
                <a:solidFill>
                  <a:schemeClr val="lt1"/>
                </a:solidFill>
              </a:rPr>
              <a:t>Plan capacity around network growth, not raw trend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Use per-station demand, not fatal demand, when judging </a:t>
            </a:r>
            <a:r>
              <a:rPr lang="en-GB">
                <a:solidFill>
                  <a:schemeClr val="lt1"/>
                </a:solidFill>
              </a:rPr>
              <a:t>whether</a:t>
            </a:r>
            <a:r>
              <a:rPr lang="en-GB">
                <a:solidFill>
                  <a:schemeClr val="lt1"/>
                </a:solidFill>
              </a:rPr>
              <a:t> existing stations are under strain.</a:t>
            </a:r>
            <a:endParaRPr>
              <a:solidFill>
                <a:schemeClr val="lt1"/>
              </a:solidFill>
            </a:endParaRPr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b="1" lang="en-GB">
                <a:solidFill>
                  <a:schemeClr val="lt1"/>
                </a:solidFill>
              </a:rPr>
              <a:t>Use XGBoost as the working forecast, Prophet as the upside case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Budget</a:t>
            </a:r>
            <a:r>
              <a:rPr lang="en-GB">
                <a:solidFill>
                  <a:schemeClr val="lt1"/>
                </a:solidFill>
              </a:rPr>
              <a:t> energy procurement toward Prophet’s higher estimate as a buffer, treat </a:t>
            </a:r>
            <a:r>
              <a:rPr lang="en-GB">
                <a:solidFill>
                  <a:schemeClr val="lt1"/>
                </a:solidFill>
              </a:rPr>
              <a:t>XGBoost’s</a:t>
            </a:r>
            <a:r>
              <a:rPr lang="en-GB">
                <a:solidFill>
                  <a:schemeClr val="lt1"/>
                </a:solidFill>
              </a:rPr>
              <a:t> flatter estimate as the conservative floor.</a:t>
            </a:r>
            <a:endParaRPr>
              <a:solidFill>
                <a:schemeClr val="lt1"/>
              </a:solidFill>
            </a:endParaRPr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b="1" lang="en-GB">
                <a:solidFill>
                  <a:schemeClr val="lt1"/>
                </a:solidFill>
              </a:rPr>
              <a:t>Resolve the installation-date date issue upstream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lt1"/>
                </a:solidFill>
              </a:rPr>
              <a:t>30% of sessions predate their charger’s recorded install date across all 199 chargers, worth at the source for future projects relying on that </a:t>
            </a:r>
            <a:r>
              <a:rPr lang="en-GB">
                <a:solidFill>
                  <a:schemeClr val="lt1"/>
                </a:solidFill>
              </a:rPr>
              <a:t>field</a:t>
            </a:r>
            <a:r>
              <a:rPr lang="en-GB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